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Older
Families</c:v>
                </c:pt>
                <c:pt idx="1">
                  <c:v>Young
Families</c:v>
                </c:pt>
                <c:pt idx="2">
                  <c:v>Older Singles
/Couples</c:v>
                </c:pt>
                <c:pt idx="3">
                  <c:v>Young Singles
/Couples</c:v>
                </c:pt>
                <c:pt idx="4">
                  <c:v>Retirees</c:v>
                </c:pt>
                <c:pt idx="5">
                  <c:v>Midage S/C</c:v>
                </c:pt>
                <c:pt idx="6">
                  <c:v>New
Families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168363</c:v>
                </c:pt>
                <c:pt idx="1">
                  <c:v>139346</c:v>
                </c:pt>
                <c:pt idx="2">
                  <c:v>136770</c:v>
                </c:pt>
                <c:pt idx="3">
                  <c:v>61142</c:v>
                </c:pt>
                <c:pt idx="4">
                  <c:v>113148</c:v>
                </c:pt>
                <c:pt idx="5">
                  <c:v>35515</c:v>
                </c:pt>
                <c:pt idx="6">
                  <c:v>21928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C8-4CC4-8B09-0F9A023915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Mainstream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Older
Families</c:v>
                </c:pt>
                <c:pt idx="1">
                  <c:v>Young
Families</c:v>
                </c:pt>
                <c:pt idx="2">
                  <c:v>Older Singles
/Couples</c:v>
                </c:pt>
                <c:pt idx="3">
                  <c:v>Young Singles
/Couples</c:v>
                </c:pt>
                <c:pt idx="4">
                  <c:v>Retirees</c:v>
                </c:pt>
                <c:pt idx="5">
                  <c:v>Midage S/C</c:v>
                </c:pt>
                <c:pt idx="6">
                  <c:v>New
Families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103446</c:v>
                </c:pt>
                <c:pt idx="1">
                  <c:v>92789</c:v>
                </c:pt>
                <c:pt idx="2">
                  <c:v>133394</c:v>
                </c:pt>
                <c:pt idx="3">
                  <c:v>157622</c:v>
                </c:pt>
                <c:pt idx="4">
                  <c:v>155677</c:v>
                </c:pt>
                <c:pt idx="5">
                  <c:v>90804</c:v>
                </c:pt>
                <c:pt idx="6">
                  <c:v>17014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C8-4CC4-8B09-0F9A023915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Older
Families</c:v>
                </c:pt>
                <c:pt idx="1">
                  <c:v>Young
Families</c:v>
                </c:pt>
                <c:pt idx="2">
                  <c:v>Older Singles
/Couples</c:v>
                </c:pt>
                <c:pt idx="3">
                  <c:v>Young Singles
/Couples</c:v>
                </c:pt>
                <c:pt idx="4">
                  <c:v>Retirees</c:v>
                </c:pt>
                <c:pt idx="5">
                  <c:v>Midage S/C</c:v>
                </c:pt>
                <c:pt idx="6">
                  <c:v>New
Families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81958</c:v>
                </c:pt>
                <c:pt idx="1">
                  <c:v>84026</c:v>
                </c:pt>
                <c:pt idx="2">
                  <c:v>132257</c:v>
                </c:pt>
                <c:pt idx="3">
                  <c:v>41642</c:v>
                </c:pt>
                <c:pt idx="4">
                  <c:v>97646</c:v>
                </c:pt>
                <c:pt idx="5">
                  <c:v>58433</c:v>
                </c:pt>
                <c:pt idx="6">
                  <c:v>11491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C8-4CC4-8B09-0F9A02391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Per Customer ($)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Older
Families</c:v>
                </c:pt>
                <c:pt idx="1">
                  <c:v>Young
Families</c:v>
                </c:pt>
                <c:pt idx="2">
                  <c:v>Older Singles
/Couples</c:v>
                </c:pt>
                <c:pt idx="3">
                  <c:v>Midage
S/C</c:v>
                </c:pt>
                <c:pt idx="4">
                  <c:v>Retirees</c:v>
                </c:pt>
                <c:pt idx="5">
                  <c:v>New
Families</c:v>
                </c:pt>
                <c:pt idx="6">
                  <c:v>Young Singles
/Couples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36.01</c:v>
                </c:pt>
                <c:pt idx="1">
                  <c:v>34.51</c:v>
                </c:pt>
                <c:pt idx="2">
                  <c:v>27.22</c:v>
                </c:pt>
                <c:pt idx="3">
                  <c:v>25.14</c:v>
                </c:pt>
                <c:pt idx="4">
                  <c:v>24.88</c:v>
                </c:pt>
                <c:pt idx="5">
                  <c:v>19.77</c:v>
                </c:pt>
                <c:pt idx="6">
                  <c:v>19.489999999999998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48-4850-8937-923815F670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Customer Count by Lifestage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Young
Singles</c:v>
                </c:pt>
                <c:pt idx="1">
                  <c:v>Retirees</c:v>
                </c:pt>
                <c:pt idx="2">
                  <c:v>Older
Singles</c:v>
                </c:pt>
                <c:pt idx="3">
                  <c:v>Older
Families</c:v>
                </c:pt>
                <c:pt idx="4">
                  <c:v>Young
Families</c:v>
                </c:pt>
                <c:pt idx="5">
                  <c:v>Midage
S/C</c:v>
                </c:pt>
                <c:pt idx="6">
                  <c:v>New
Families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8088</c:v>
                </c:pt>
                <c:pt idx="1">
                  <c:v>6479</c:v>
                </c:pt>
                <c:pt idx="2">
                  <c:v>4930</c:v>
                </c:pt>
                <c:pt idx="3">
                  <c:v>4675</c:v>
                </c:pt>
                <c:pt idx="4">
                  <c:v>4017</c:v>
                </c:pt>
                <c:pt idx="5">
                  <c:v>3340</c:v>
                </c:pt>
                <c:pt idx="6">
                  <c:v>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D6-4ED0-8AEB-4FA90AB63B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14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B8A6"/>
                </a:solidFill>
              </a:rPr>
              <a:t>QUANTIUM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Chip Category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Strategic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</a:rPr>
              <a:t>Customer Analytics &amp; Trial Store Assessment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3200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383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Prepared for:  </a:t>
            </a:r>
            <a:r>
              <a:rPr lang="en-US" sz="1200" b="1" dirty="0">
                <a:solidFill>
                  <a:srgbClr val="FFFFFF"/>
                </a:solidFill>
              </a:rPr>
              <a:t>Julia Chen, Category Manager — Chips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Prepared by: 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Quantium Retail Analytics Team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Date:             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April 2026  |  Tasks 1 &amp; 2 Combined Findings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2286000"/>
            <a:ext cx="2560320" cy="25603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2651760"/>
            <a:ext cx="1828800" cy="1828800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0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78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89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What Julia asked us to solve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85953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810512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783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9397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Key numbers at a glance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78024"/>
            <a:ext cx="85953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615184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151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87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Customer Segment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98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Who buys chips &amp; what drives spend (Task 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82696"/>
            <a:ext cx="85953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419856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419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3924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Trial Store Assessment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703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Did the new layout work? (Task 2)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087368"/>
            <a:ext cx="85953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224528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1970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Recommendations &amp; Next Steps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5079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What Julia should do 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0D1B4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4023360" cy="11887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The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Business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Question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74765" y="232127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3931920" cy="19202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BD5E1"/>
                </a:solidFill>
              </a:rPr>
              <a:t>"Who are the customers buying chips, what is their purchasing behaviour, and did our trial store layout drive increased sales?"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Customer Segments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4081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Which lifestage and premium tier segments drive the most value?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2331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Sales Drivers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5511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Is it more customers, or higher spend per customer that matters?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474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Trial Effectiveness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36941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Did stores 77, 86 &amp; 88 see real uplift from the new layout?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434840"/>
            <a:ext cx="420624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📊  Dataset: 264,836 transactions  |  272 stores  |  Jul 2018 – Jun 2019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574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0574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143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</a:rPr>
              <a:t>$1.93M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Total Chip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Jul 2018 – Jun 2019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5728" y="960120"/>
            <a:ext cx="20574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960120"/>
            <a:ext cx="2057400" cy="914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43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</a:rPr>
              <a:t>264,836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Total Transactions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Across 272 stores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20574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60120"/>
            <a:ext cx="20574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143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$36.01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81728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Highest Avg Spend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Older Families — Budget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960120"/>
            <a:ext cx="20574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960120"/>
            <a:ext cx="20574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1143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+14.2%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94576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Trial Uplift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4576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Store 86 (vs Control 138)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29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Older Families (Budget) are your most valuable customers per head at $36 avg spend — protect them.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764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Young Singles/Couples (Mainstream) represent your biggest growth opportunity — 8,088 customers but only $19 avg spend.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69664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239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Store 86 showed the strongest trial result (+14.2% uplift) — recommend extending before full rollout.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517136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714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Pack size is uniform at ~180g across all segments — strategy focus should be on frequency and basket size.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TASK 1  |  CUSTOMER SEGMENT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Which segments generate the most total revenue?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417320"/>
          <a:ext cx="6035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4173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417320"/>
            <a:ext cx="26060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💡  KEY INSIGHT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2423160" cy="749808"/>
          </a:xfrm>
          <a:prstGeom prst="rect">
            <a:avLst/>
          </a:prstGeom>
          <a:solidFill>
            <a:srgbClr val="F1F7FA"/>
          </a:solidFill>
          <a:ln/>
        </p:spPr>
      </p:sp>
      <p:sp>
        <p:nvSpPr>
          <p:cNvPr id="10" name="Text 7"/>
          <p:cNvSpPr/>
          <p:nvPr/>
        </p:nvSpPr>
        <p:spPr>
          <a:xfrm>
            <a:off x="6510528" y="19568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#1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95160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Older Families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(Budget)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951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$168K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2788920"/>
            <a:ext cx="2423160" cy="749808"/>
          </a:xfrm>
          <a:prstGeom prst="rect">
            <a:avLst/>
          </a:prstGeom>
          <a:solidFill>
            <a:srgbClr val="F1F7FA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8254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#2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95160" y="2825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Young Singles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(Mainstream)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951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$158K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3657600"/>
            <a:ext cx="2423160" cy="749808"/>
          </a:xfrm>
          <a:prstGeom prst="rect">
            <a:avLst/>
          </a:prstGeom>
          <a:solidFill>
            <a:srgbClr val="F1F7FA"/>
          </a:solidFill>
          <a:ln/>
        </p:spPr>
      </p:sp>
      <p:sp>
        <p:nvSpPr>
          <p:cNvPr id="18" name="Text 15"/>
          <p:cNvSpPr/>
          <p:nvPr/>
        </p:nvSpPr>
        <p:spPr>
          <a:xfrm>
            <a:off x="6510528" y="36941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#3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95160" y="3694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Retirees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(Mainstream)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951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$156K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46520" y="4526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64748B"/>
                </a:solidFill>
              </a:rPr>
              <a:t>Volume alone doesn't tell the full story — see next slide for spend per customer.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TASK 1  |  CUSTOMER SEGMENT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Who spends the most per visit — and why does it matter?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417320"/>
          <a:ext cx="6035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41732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41732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💡  KEY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$36.01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492240" y="2560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Avg spend — Older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Families (Budget)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3108960"/>
            <a:ext cx="24231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32004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vs $19.49 for Young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Singles/Couples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(Mainstream) — despite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being 73% larger segment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46520" y="4160520"/>
            <a:ext cx="2514600" cy="64008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4187952"/>
            <a:ext cx="2468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Action: Retain high-value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families with loyalty deals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multipack promotions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TASK 1  |  CUSTOMER SEGMENT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Customer volume vs pack size — what does it reveal?</a:t>
            </a:r>
            <a:endParaRPr lang="en-US" sz="1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41732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417320"/>
            <a:ext cx="32918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417320"/>
            <a:ext cx="32918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5"/>
          <p:cNvSpPr/>
          <p:nvPr/>
        </p:nvSpPr>
        <p:spPr>
          <a:xfrm>
            <a:off x="5742432" y="1536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📦  PACK SIZE FINDING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42432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4B8A6"/>
                </a:solidFill>
              </a:rPr>
              <a:t>~180g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742432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Average pack size across ALL segments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64748B"/>
                </a:solidFill>
              </a:rPr>
              <a:t>Pack size shows NO meaningful variation between any customer segment. This means Julia's strategy should NOT focus on pack size differentiation.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" y="4206240"/>
            <a:ext cx="429768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Opportunity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4320" y="4526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Young Singles/Couples: 8,088 customers but only $19.49 avg spend. Volume is there — lift frequency.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4206240"/>
            <a:ext cx="4297680" cy="7772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Underserved Segment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4526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Retirees rank #3 in total sales ($156K) but are rarely targeted. New flavours + in-store activation could unlock value.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TASK 2  |  TRIAL STORE ASSESSMENT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How did we select control stores?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2004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508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PRE-TRIAL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Jul 2018 – Jan 2019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7 months of data used to match control stores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84448" y="1463040"/>
            <a:ext cx="22860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0168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Feb – Apr 2019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30168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3 months — new layout tested in stores 77, 86 &amp; 88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0176" y="1463040"/>
            <a:ext cx="2286000" cy="5486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896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POST-TRIAL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25896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May – Jun 2019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25896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Monitoring period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</a:rPr>
              <a:t>MATCHING METHODOLOGY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035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Pearson correlation on monthly Total Sales, Customer Count &amp; Avg Transactions per Customer over the pre-trial period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0215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Magnitude distance score — normalised 0-1 scale to account for store size differences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1363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8587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Combined final score (average of 6 scores) — higher score = better control match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8595360" cy="10972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297680"/>
            <a:ext cx="1280160" cy="201168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Trial Store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4480" y="4297680"/>
            <a:ext cx="1280160" cy="201168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Control Store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34640" y="4297680"/>
            <a:ext cx="1280160" cy="201168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Match Score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4297680"/>
            <a:ext cx="1371600" cy="201168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Sales Corr.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4297680"/>
            <a:ext cx="1554480" cy="201168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 Corr.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40880" y="4297680"/>
            <a:ext cx="1371600" cy="201168"/>
          </a:xfrm>
          <a:prstGeom prst="rect">
            <a:avLst/>
          </a:prstGeom>
          <a:solidFill>
            <a:srgbClr val="0D1B4B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Assessment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4498848"/>
            <a:ext cx="128016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 77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4498848"/>
            <a:ext cx="128016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 17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4498848"/>
            <a:ext cx="128016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0.8177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4498848"/>
            <a:ext cx="137160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0.8427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4498848"/>
            <a:ext cx="155448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0.7473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4498848"/>
            <a:ext cx="137160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✅ Good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700016"/>
            <a:ext cx="12801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 86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554480" y="4700016"/>
            <a:ext cx="12801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 138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4700016"/>
            <a:ext cx="128016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0.8399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0" y="4700016"/>
            <a:ext cx="13716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0.7599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0" y="4700016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0.7497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4700016"/>
            <a:ext cx="13716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✅ Strong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" y="4901184"/>
            <a:ext cx="128016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 88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554480" y="4901184"/>
            <a:ext cx="128016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 178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34640" y="4901184"/>
            <a:ext cx="128016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0.7488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0" y="4901184"/>
            <a:ext cx="137160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0.7319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0" y="4901184"/>
            <a:ext cx="155448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0.9395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40880" y="4901184"/>
            <a:ext cx="1371600" cy="20116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✅ Acceptable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-346166" y="4969764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FFFFF"/>
                </a:solidFill>
              </a:rPr>
              <a:t>TASK 2  |  TRIAL STORE 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Were the trial store results statistically significant?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463040"/>
            <a:ext cx="8778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463040"/>
            <a:ext cx="10972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508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Store 77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856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vs Control 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Trial Avg Sales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$259.00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Control Avg Sales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$249.16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Uplift ($)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+$9.84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Uplift (%)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+3.9%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P-value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</a:rPr>
              <a:t>0.5750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1579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Marginal positive trend. Insufficient evidence to confirm impact with 3 months of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633472"/>
            <a:ext cx="8778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33472"/>
            <a:ext cx="10972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679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Store 86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4048" y="30266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vs Control 138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Trial Avg Sales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$929.40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Control Avg Sales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$814.11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Uplift ($)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+$115.29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Uplift (%)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+14.2%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P-value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2962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0.1987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94560" y="33284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Strongest performer. 14.2% uplift is commercially meaningful. Recommend extending trial.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3803904"/>
            <a:ext cx="87782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3803904"/>
            <a:ext cx="10972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38496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Store 88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84048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vs Control 178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9456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Trial Avg Sales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4133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$1,428.93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2044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Control Avg Sales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0440" y="4133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$1,504.26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4632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Uplift ($)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133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-$75.33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7220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Uplift (%)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72200" y="4133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-5.0%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4980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P-value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0" y="4133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0.2010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194560" y="44988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Trial underperformed. Layout may not suit this store's customer profile. Revert &amp; investigate.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" y="4919472"/>
            <a:ext cx="8778240" cy="201168"/>
          </a:xfrm>
          <a:prstGeom prst="rect">
            <a:avLst/>
          </a:prstGeom>
          <a:solidFill>
            <a:srgbClr val="F1F7FA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⚠  Note: p &lt; 0.05 threshold not reached for any store — this is expected with only 3 monthly data points. Results are directionally meaningful, not yet statistically conclusive.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STRATEGIC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For Julia — Category Manager, Chips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CUSTOMER STRATEGY (Task 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697480"/>
            <a:ext cx="77724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697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PROTECT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670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Older Families (Budget)  —  Loyalty deals &amp; multipack promos — your highest-value customers at $36 avg spend.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337560"/>
            <a:ext cx="77724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Young Singles (Mainstream)  —  Buy 2 Get 1 offers &amp; checkout impulse placement — 8K customers but only $19 avg spend.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77724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977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Retirees (Mainstream)  —  New flavour launches &amp; in-store tastings — underserved at $156K total sales.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</a:rPr>
              <a:t>TRIAL STRATEGY (Task 2)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731520"/>
            <a:ext cx="4297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731520"/>
            <a:ext cx="4297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681728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✅  EXTEND Trial — Store 86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1728" y="11155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+14.2% uplift. Run 3 more months to reach statistical significance before rollout.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783080"/>
            <a:ext cx="4297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783080"/>
            <a:ext cx="4297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🔍  INVESTIGATE — Store 88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216712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-5.0% vs control. Do not roll out. Check store demographics and location context.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834640"/>
            <a:ext cx="4297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834640"/>
            <a:ext cx="4297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681728" y="2926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📊  MONITOR — Store 77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81728" y="321868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+3.9% marginal. Include in extended trial. Watch for trend strengthening over 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886200"/>
            <a:ext cx="4297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886200"/>
            <a:ext cx="4297680" cy="54864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0" name="Text 28"/>
          <p:cNvSpPr/>
          <p:nvPr/>
        </p:nvSpPr>
        <p:spPr>
          <a:xfrm>
            <a:off x="4681728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🚫  NO full rollout yet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81728" y="427024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Evidence is promising but not conclusive. Phased rollout starting with Store 86-type profiles is recommended.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0" y="49194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NEXT STEPS &amp; TIMELINE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4251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108813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069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Immediate (Week 1–2)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Launch loyalty promotions for Older Families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6733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Implement multipack deals targeting Budget tier across top-performing stores. Measure uplift vs baseline.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258775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891B2"/>
                </a:solidFill>
              </a:rPr>
              <a:t>Owner: Category Mgr + Marketing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251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108813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069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Month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Extend Store 86 trial for 3 additional months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16733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Continuation of new layout in Store 86 to build statistical confidence. Track weekly sales vs Control 138.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258775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59E0B"/>
                </a:solidFill>
              </a:rPr>
              <a:t>Owner: Store Ops + Analytics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97180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971800"/>
            <a:ext cx="4251960" cy="7315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" y="3099816"/>
            <a:ext cx="502920" cy="502920"/>
          </a:xfrm>
          <a:prstGeom prst="ellipse">
            <a:avLst/>
          </a:prstGeom>
          <a:solidFill>
            <a:srgbClr val="0D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081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4B"/>
                </a:solidFill>
              </a:rPr>
              <a:t>Month 1–2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319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Activate Young Singles/Couples segment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" y="3685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Roll out impulse placement at checkout zones. Test 'Buy 2 Get 1' mechanic on 150–175g packs.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59943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1B4B"/>
                </a:solidFill>
              </a:rPr>
              <a:t>Owner: Category Mgr + Trade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71800"/>
            <a:ext cx="42519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4773168" y="3099816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081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Month 2–3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3319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Investigate Store 88 underperformance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73168" y="36850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Audit store layout, customer demographics, and competitor proximity. Revert layout if no root cause found.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4599432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F4444"/>
                </a:solidFill>
              </a:rPr>
              <a:t>Owner: Analytics + Store Ops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 |  Quantium Retail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4B8A6"/>
                </a:solidFill>
              </a:rPr>
              <a:t>QUANTIUM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42777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57784" y="2249425"/>
            <a:ext cx="2743200" cy="4571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2562933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We look forward to your feedback and are happy</a:t>
            </a:r>
            <a:endParaRPr lang="en-US" sz="16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to deep-dive into any segment or store result.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1280160"/>
            <a:ext cx="3017520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B8A6"/>
                </a:solidFill>
              </a:rPr>
              <a:t>REPORT SUMMARY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1810512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7647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264,836 transactions analysed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2157984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1122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272 stores across Australia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2505456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4597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7 customer lifestage segments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3328" y="2852928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8072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 trial stores assessed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53328" y="3200400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154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 control stores matched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53328" y="3547872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5021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$1.93M total chip revenue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895344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8496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 strategic recommendations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Quantium Retail Analytics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1278</Words>
  <Application>Microsoft Office PowerPoint</Application>
  <PresentationFormat>On-screen Show (16:9)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Quantium Retail Analytics — Chip Category Report</dc:title>
  <dc:subject>PptxGenJS Presentation</dc:subject>
  <dc:creator>Quantium Analytics Team</dc:creator>
  <cp:lastModifiedBy>Manjunath</cp:lastModifiedBy>
  <cp:revision>2</cp:revision>
  <dcterms:created xsi:type="dcterms:W3CDTF">2026-04-19T09:51:33Z</dcterms:created>
  <dcterms:modified xsi:type="dcterms:W3CDTF">2026-04-19T10:01:40Z</dcterms:modified>
</cp:coreProperties>
</file>